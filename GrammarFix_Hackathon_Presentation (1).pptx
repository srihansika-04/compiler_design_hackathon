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  <p:sldId id="269" r:id="rId15"/>
    <p:sldId id="271" r:id="rId16"/>
    <p:sldId id="272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 Hansika Saraf" userId="853678b18a0aa9d5" providerId="LiveId" clId="{D173137B-D079-4E81-8106-2102DAC5600E}"/>
    <pc:docChg chg="custSel modSld">
      <pc:chgData name="Sri Hansika Saraf" userId="853678b18a0aa9d5" providerId="LiveId" clId="{D173137B-D079-4E81-8106-2102DAC5600E}" dt="2026-10-30T05:24:56.890" v="3" actId="478"/>
      <pc:docMkLst>
        <pc:docMk/>
      </pc:docMkLst>
      <pc:sldChg chg="delSp mod">
        <pc:chgData name="Sri Hansika Saraf" userId="853678b18a0aa9d5" providerId="LiveId" clId="{D173137B-D079-4E81-8106-2102DAC5600E}" dt="2026-10-30T05:24:56.890" v="3" actId="478"/>
        <pc:sldMkLst>
          <pc:docMk/>
          <pc:sldMk cId="0" sldId="256"/>
        </pc:sldMkLst>
        <pc:spChg chg="del">
          <ac:chgData name="Sri Hansika Saraf" userId="853678b18a0aa9d5" providerId="LiveId" clId="{D173137B-D079-4E81-8106-2102DAC5600E}" dt="2026-10-30T05:24:50.702" v="1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Sri Hansika Saraf" userId="853678b18a0aa9d5" providerId="LiveId" clId="{D173137B-D079-4E81-8106-2102DAC5600E}" dt="2026-10-30T05:24:49.474" v="0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Sri Hansika Saraf" userId="853678b18a0aa9d5" providerId="LiveId" clId="{D173137B-D079-4E81-8106-2102DAC5600E}" dt="2026-10-30T05:24:52.384" v="2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Sri Hansika Saraf" userId="853678b18a0aa9d5" providerId="LiveId" clId="{D173137B-D079-4E81-8106-2102DAC5600E}" dt="2026-10-30T05:24:56.890" v="3" actId="478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22960" y="114300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3B4A6"/>
                </a:solidFill>
                <a:latin typeface="Aptos"/>
              </a:defRPr>
            </a:pPr>
            <a:r>
              <a:t>HACKATHON PROJECT  •  PS-04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95527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  <a:latin typeface="Aptos"/>
              </a:defRPr>
            </a:pPr>
            <a:r>
              <a:t>GrammarFix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7772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C1D7F6"/>
                </a:solidFill>
                <a:latin typeface="Aptos"/>
              </a:defRPr>
            </a:pPr>
            <a:r>
              <a:t>Dangling-Else Resolver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51960"/>
            <a:ext cx="7132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Detecting grammar ambiguity and resolving nested if–else statements through matched and unmatched grammar rules.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893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B0C2DC"/>
                </a:solidFill>
                <a:latin typeface="Aptos"/>
              </a:defRPr>
            </a:pPr>
            <a:r>
              <a:t>Python  •  Streamlit  •  Parse Trees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62636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21E38"/>
                </a:solidFill>
                <a:latin typeface="Aptos"/>
              </a:defRPr>
            </a:pPr>
            <a:r>
              <a:t>The Problem: Dangling 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8758A"/>
                </a:solidFill>
                <a:latin typeface="Aptos"/>
              </a:defRPr>
            </a:pPr>
            <a:r>
              <a:t>Why nested conditional statements can be ambiguous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1051560" cy="54864"/>
          </a:xfrm>
          <a:prstGeom prst="rect">
            <a:avLst/>
          </a:prstGeom>
          <a:solidFill>
            <a:srgbClr val="23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8758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3068BE"/>
                </a:solidFill>
                <a:latin typeface="Aptos"/>
              </a:defRPr>
            </a:pPr>
            <a:r>
              <a:t>Example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5166360" cy="2880360"/>
          </a:xfrm>
          <a:prstGeom prst="round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137160" bIns="109728" rtlCol="0" anchor="ctr"/>
          <a:lstStyle/>
          <a:p>
            <a:pPr algn="ctr">
              <a:spcAft>
                <a:spcPts val="200"/>
              </a:spcAft>
              <a:defRPr sz="1800">
                <a:solidFill>
                  <a:srgbClr val="D7E8FA"/>
                </a:solidFill>
                <a:latin typeface="Consolas"/>
              </a:defRPr>
            </a:pPr>
            <a:r>
              <a:t>if (a)</a:t>
            </a:r>
          </a:p>
          <a:p>
            <a:pPr>
              <a:spcAft>
                <a:spcPts val="200"/>
              </a:spcAft>
              <a:defRPr sz="1800">
                <a:solidFill>
                  <a:srgbClr val="D7E8FA"/>
                </a:solidFill>
                <a:latin typeface="Consolas"/>
              </a:defRPr>
            </a:pPr>
            <a:r>
              <a:t>    if (b)</a:t>
            </a:r>
          </a:p>
          <a:p>
            <a:pPr>
              <a:spcAft>
                <a:spcPts val="200"/>
              </a:spcAft>
              <a:defRPr sz="1800">
                <a:solidFill>
                  <a:srgbClr val="D7E8FA"/>
                </a:solidFill>
                <a:latin typeface="Consolas"/>
              </a:defRPr>
            </a:pPr>
            <a:r>
              <a:t>        x;</a:t>
            </a:r>
          </a:p>
          <a:p>
            <a:pPr>
              <a:spcAft>
                <a:spcPts val="200"/>
              </a:spcAft>
              <a:defRPr sz="1800">
                <a:solidFill>
                  <a:srgbClr val="D7E8FA"/>
                </a:solidFill>
                <a:latin typeface="Consolas"/>
              </a:defRPr>
            </a:pPr>
            <a:r>
              <a:t>    else</a:t>
            </a:r>
          </a:p>
          <a:p>
            <a:pPr>
              <a:spcAft>
                <a:spcPts val="200"/>
              </a:spcAft>
              <a:defRPr sz="1800">
                <a:solidFill>
                  <a:srgbClr val="D7E8FA"/>
                </a:solidFill>
                <a:latin typeface="Consolas"/>
              </a:defRPr>
            </a:pPr>
            <a:r>
              <a:t>        y;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21E38"/>
                </a:solidFill>
                <a:latin typeface="Aptos"/>
              </a:defRPr>
            </a:pPr>
            <a:r>
              <a:t>The ambiguity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42316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42E42"/>
                </a:solidFill>
                <a:latin typeface="Aptos"/>
              </a:defRPr>
            </a:pPr>
            <a:r>
              <a:t>Does else belong to the inner if (b)?</a:t>
            </a:r>
          </a:p>
          <a:p>
            <a:pPr>
              <a:spcAft>
                <a:spcPts val="1200"/>
              </a:spcAft>
              <a:defRPr sz="1800">
                <a:solidFill>
                  <a:srgbClr val="242E42"/>
                </a:solidFill>
                <a:latin typeface="Aptos"/>
              </a:defRPr>
            </a:pPr>
            <a:r>
              <a:t>Or does it belong to the outer if (a)?</a:t>
            </a:r>
          </a:p>
          <a:p>
            <a:pPr>
              <a:spcAft>
                <a:spcPts val="1200"/>
              </a:spcAft>
              <a:defRPr sz="1800">
                <a:solidFill>
                  <a:srgbClr val="242E42"/>
                </a:solidFill>
                <a:latin typeface="Aptos"/>
              </a:defRPr>
            </a:pPr>
            <a:r>
              <a:t>The original grammar can permit both parse structures.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4983480"/>
            <a:ext cx="5074920" cy="777240"/>
          </a:xfrm>
          <a:prstGeom prst="roundRect">
            <a:avLst/>
          </a:prstGeom>
          <a:solidFill>
            <a:srgbClr val="FFF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5166360"/>
            <a:ext cx="4617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42E42"/>
                </a:solidFill>
                <a:latin typeface="Aptos"/>
              </a:defRPr>
            </a:pPr>
            <a:r>
              <a:t>Goal: detect ambiguity, then show the intended parse.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21E38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8758A"/>
                </a:solidFill>
                <a:latin typeface="Aptos"/>
              </a:defRPr>
            </a:pPr>
            <a:r>
              <a:t>What GrammarFix is designed to demonstrate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1051560" cy="54864"/>
          </a:xfrm>
          <a:prstGeom prst="rect">
            <a:avLst/>
          </a:prstGeom>
          <a:solidFill>
            <a:srgbClr val="23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8758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23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837943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28216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21E38"/>
                </a:solidFill>
                <a:latin typeface="Aptos"/>
              </a:defRPr>
            </a:pPr>
            <a:r>
              <a:t>Accept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737360"/>
            <a:ext cx="7406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42E42"/>
                </a:solidFill>
                <a:latin typeface="Aptos"/>
              </a:defRPr>
            </a:pPr>
            <a:r>
              <a:t>Read nested if statements with optional else clauses.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606039"/>
            <a:ext cx="502920" cy="502920"/>
          </a:xfrm>
          <a:prstGeom prst="ellipse">
            <a:avLst/>
          </a:prstGeom>
          <a:solidFill>
            <a:srgbClr val="23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706623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596896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21E38"/>
                </a:solidFill>
                <a:latin typeface="Aptos"/>
              </a:defRPr>
            </a:pPr>
            <a:r>
              <a:t>Detect ambiguity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606039"/>
            <a:ext cx="7406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42E42"/>
                </a:solidFill>
                <a:latin typeface="Aptos"/>
              </a:defRPr>
            </a:pPr>
            <a:r>
              <a:t>Find multiple valid parse trees under the original grammar.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rgbClr val="23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575303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465576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21E38"/>
                </a:solidFill>
                <a:latin typeface="Aptos"/>
              </a:defRPr>
            </a:pPr>
            <a:r>
              <a:t>Transform grammar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474720"/>
            <a:ext cx="7406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42E42"/>
                </a:solidFill>
                <a:latin typeface="Aptos"/>
              </a:defRPr>
            </a:pPr>
            <a:r>
              <a:t>Use matched and unmatched statement productions.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23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4443984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334256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21E38"/>
                </a:solidFill>
                <a:latin typeface="Aptos"/>
              </a:defRPr>
            </a:pPr>
            <a:r>
              <a:t>Compare parse trees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343400"/>
            <a:ext cx="7406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42E42"/>
                </a:solidFill>
                <a:latin typeface="Aptos"/>
              </a:defRPr>
            </a:pPr>
            <a:r>
              <a:t>Show competing interpretations and the transformed result.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5212079"/>
            <a:ext cx="502920" cy="502920"/>
          </a:xfrm>
          <a:prstGeom prst="ellipse">
            <a:avLst/>
          </a:prstGeom>
          <a:solidFill>
            <a:srgbClr val="23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5312664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202936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21E38"/>
                </a:solidFill>
                <a:latin typeface="Aptos"/>
              </a:defRPr>
            </a:pPr>
            <a:r>
              <a:t>Explain the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212079"/>
            <a:ext cx="7406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42E42"/>
                </a:solidFill>
                <a:latin typeface="Aptos"/>
              </a:defRPr>
            </a:pPr>
            <a:r>
              <a:t>Demonstrate nearest-unmatched-if association.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21E38"/>
                </a:solidFill>
                <a:latin typeface="Aptos"/>
              </a:defRPr>
            </a:pPr>
            <a:r>
              <a:t>Grammar Before and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8758A"/>
                </a:solidFill>
                <a:latin typeface="Aptos"/>
              </a:defRPr>
            </a:pPr>
            <a:r>
              <a:t>Original grammar vs. matched/unmatched formulation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1051560" cy="54864"/>
          </a:xfrm>
          <a:prstGeom prst="rect">
            <a:avLst/>
          </a:prstGeom>
          <a:solidFill>
            <a:srgbClr val="23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8758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068BE"/>
                </a:solidFill>
                <a:latin typeface="Aptos"/>
              </a:defRPr>
            </a:pPr>
            <a:r>
              <a:t>Original ambiguous grammar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94560"/>
            <a:ext cx="5257800" cy="2423160"/>
          </a:xfrm>
          <a:prstGeom prst="round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137160" bIns="109728" rtlCol="0" anchor="ctr"/>
          <a:lstStyle/>
          <a:p>
            <a:pPr algn="ctr">
              <a:spcAft>
                <a:spcPts val="200"/>
              </a:spcAft>
              <a:defRPr sz="1900">
                <a:solidFill>
                  <a:srgbClr val="D7E8FA"/>
                </a:solidFill>
                <a:latin typeface="Consolas"/>
              </a:defRPr>
            </a:pPr>
            <a:r>
              <a:t>S → if (E) S</a:t>
            </a:r>
          </a:p>
          <a:p>
            <a:pPr>
              <a:spcAft>
                <a:spcPts val="200"/>
              </a:spcAft>
              <a:defRPr sz="1900">
                <a:solidFill>
                  <a:srgbClr val="D7E8FA"/>
                </a:solidFill>
                <a:latin typeface="Consolas"/>
              </a:defRPr>
            </a:pPr>
            <a:r>
              <a:t>S → if (E) S else S</a:t>
            </a:r>
          </a:p>
          <a:p>
            <a:pPr>
              <a:spcAft>
                <a:spcPts val="200"/>
              </a:spcAft>
              <a:defRPr sz="1900">
                <a:solidFill>
                  <a:srgbClr val="D7E8FA"/>
                </a:solidFill>
                <a:latin typeface="Consolas"/>
              </a:defRPr>
            </a:pPr>
            <a:r>
              <a:t>S → other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42E42"/>
                </a:solidFill>
                <a:latin typeface="Aptos"/>
              </a:defRPr>
            </a:pPr>
            <a:r>
              <a:t>An if may be parsed with or without else.</a:t>
            </a:r>
          </a:p>
          <a:p>
            <a:pPr>
              <a:spcAft>
                <a:spcPts val="1200"/>
              </a:spcAft>
              <a:defRPr sz="1500">
                <a:solidFill>
                  <a:srgbClr val="242E42"/>
                </a:solidFill>
                <a:latin typeface="Aptos"/>
              </a:defRPr>
            </a:pPr>
            <a:r>
              <a:t>Some strings therefore have multiple parse trees.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9164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3B4A6"/>
                </a:solidFill>
                <a:latin typeface="Aptos"/>
              </a:defRPr>
            </a:pPr>
            <a:r>
              <a:t>Transformed grammar (conceptual)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94560"/>
            <a:ext cx="5257800" cy="2423160"/>
          </a:xfrm>
          <a:prstGeom prst="round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137160" bIns="109728" rtlCol="0" anchor="ctr"/>
          <a:lstStyle/>
          <a:p>
            <a:pPr algn="ctr">
              <a:spcAft>
                <a:spcPts val="200"/>
              </a:spcAft>
              <a:defRPr sz="1700">
                <a:solidFill>
                  <a:srgbClr val="D7E8FA"/>
                </a:solidFill>
                <a:latin typeface="Consolas"/>
              </a:defRPr>
            </a:pPr>
            <a:r>
              <a:t>S → M | U</a:t>
            </a:r>
          </a:p>
          <a:p>
            <a:pPr>
              <a:spcAft>
                <a:spcPts val="200"/>
              </a:spcAft>
              <a:defRPr sz="1700">
                <a:solidFill>
                  <a:srgbClr val="D7E8FA"/>
                </a:solidFill>
                <a:latin typeface="Consolas"/>
              </a:defRPr>
            </a:pPr>
            <a:r>
              <a:t>M → if (E) M else M | other</a:t>
            </a:r>
          </a:p>
          <a:p>
            <a:pPr>
              <a:spcAft>
                <a:spcPts val="200"/>
              </a:spcAft>
              <a:defRPr sz="1700">
                <a:solidFill>
                  <a:srgbClr val="D7E8FA"/>
                </a:solidFill>
                <a:latin typeface="Consolas"/>
              </a:defRPr>
            </a:pPr>
            <a:r>
              <a:t>U → if (E) S | if (E) M else 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8006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42E42"/>
                </a:solidFill>
                <a:latin typeface="Aptos"/>
              </a:defRPr>
            </a:pPr>
            <a:r>
              <a:t>M = matched statement; U = unmatched statement.</a:t>
            </a:r>
          </a:p>
          <a:p>
            <a:pPr>
              <a:spcAft>
                <a:spcPts val="1200"/>
              </a:spcAft>
              <a:defRPr sz="1500">
                <a:solidFill>
                  <a:srgbClr val="242E42"/>
                </a:solidFill>
                <a:latin typeface="Aptos"/>
              </a:defRPr>
            </a:pPr>
            <a:r>
              <a:t>The grammar encodes nearest-unmatched-if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21E38"/>
                </a:solidFill>
                <a:latin typeface="Aptos"/>
              </a:defRPr>
            </a:pPr>
            <a:r>
              <a:t>How GrammarFix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8758A"/>
                </a:solidFill>
                <a:latin typeface="Aptos"/>
              </a:defRPr>
            </a:pPr>
            <a:r>
              <a:t>Processing pipeline from source input to explanation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1051560" cy="54864"/>
          </a:xfrm>
          <a:prstGeom prst="rect">
            <a:avLst/>
          </a:prstGeom>
          <a:solidFill>
            <a:srgbClr val="23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8758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3172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54203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3B4A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9718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21E38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42900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8758A"/>
                </a:solidFill>
                <a:latin typeface="Aptos"/>
              </a:defRPr>
            </a:pPr>
            <a:r>
              <a:t>User enters nested if–else code</a:t>
            </a:r>
          </a:p>
        </p:txBody>
      </p:sp>
      <p:sp>
        <p:nvSpPr>
          <p:cNvPr id="10" name="Chevron 9"/>
          <p:cNvSpPr/>
          <p:nvPr/>
        </p:nvSpPr>
        <p:spPr>
          <a:xfrm>
            <a:off x="2606040" y="2971800"/>
            <a:ext cx="274320" cy="411480"/>
          </a:xfrm>
          <a:prstGeom prst="chevron">
            <a:avLst/>
          </a:prstGeom>
          <a:solidFill>
            <a:srgbClr val="23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26079" y="233172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90672" y="254203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3B4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9718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21E38"/>
                </a:solidFill>
                <a:latin typeface="Aptos"/>
              </a:defRPr>
            </a:pPr>
            <a:r>
              <a:t>Tokenize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342900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8758A"/>
                </a:solidFill>
                <a:latin typeface="Aptos"/>
              </a:defRPr>
            </a:pPr>
            <a:r>
              <a:t>Split source into tokens</a:t>
            </a:r>
          </a:p>
        </p:txBody>
      </p:sp>
      <p:sp>
        <p:nvSpPr>
          <p:cNvPr id="15" name="Chevron 14"/>
          <p:cNvSpPr/>
          <p:nvPr/>
        </p:nvSpPr>
        <p:spPr>
          <a:xfrm>
            <a:off x="4937760" y="2971800"/>
            <a:ext cx="274320" cy="411480"/>
          </a:xfrm>
          <a:prstGeom prst="chevron">
            <a:avLst/>
          </a:prstGeom>
          <a:solidFill>
            <a:srgbClr val="23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57800" y="233172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22392" y="254203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3B4A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2392" y="29718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21E38"/>
                </a:solidFill>
                <a:latin typeface="Aptos"/>
              </a:defRPr>
            </a:pPr>
            <a:r>
              <a:t>Parse original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342900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8758A"/>
                </a:solidFill>
                <a:latin typeface="Aptos"/>
              </a:defRPr>
            </a:pPr>
            <a:r>
              <a:t>Enumerate valid parse trees</a:t>
            </a:r>
          </a:p>
        </p:txBody>
      </p:sp>
      <p:sp>
        <p:nvSpPr>
          <p:cNvPr id="20" name="Chevron 19"/>
          <p:cNvSpPr/>
          <p:nvPr/>
        </p:nvSpPr>
        <p:spPr>
          <a:xfrm>
            <a:off x="7269480" y="2971800"/>
            <a:ext cx="274320" cy="411480"/>
          </a:xfrm>
          <a:prstGeom prst="chevron">
            <a:avLst/>
          </a:prstGeom>
          <a:solidFill>
            <a:srgbClr val="23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589519" y="233172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54111" y="254203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3B4A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1" y="29718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21E38"/>
                </a:solidFill>
                <a:latin typeface="Aptos"/>
              </a:defRPr>
            </a:pPr>
            <a:r>
              <a:t>Resolve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1" y="342900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8758A"/>
                </a:solidFill>
                <a:latin typeface="Aptos"/>
              </a:defRPr>
            </a:pPr>
            <a:r>
              <a:t>Parse with transformed rules</a:t>
            </a:r>
          </a:p>
        </p:txBody>
      </p:sp>
      <p:sp>
        <p:nvSpPr>
          <p:cNvPr id="25" name="Chevron 24"/>
          <p:cNvSpPr/>
          <p:nvPr/>
        </p:nvSpPr>
        <p:spPr>
          <a:xfrm>
            <a:off x="9601200" y="2971800"/>
            <a:ext cx="274320" cy="411480"/>
          </a:xfrm>
          <a:prstGeom prst="chevron">
            <a:avLst/>
          </a:prstGeom>
          <a:solidFill>
            <a:srgbClr val="23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921240" y="233172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85832" y="254203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3B4A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5832" y="29718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21E38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85832" y="342900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8758A"/>
                </a:solidFill>
                <a:latin typeface="Aptos"/>
              </a:defRPr>
            </a:pPr>
            <a:r>
              <a:t>Compare results and show binding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8348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21E38"/>
                </a:solidFill>
                <a:latin typeface="Aptos"/>
              </a:defRPr>
            </a:pPr>
            <a:r>
              <a:t>Result: the user can compare ambiguity in the original grammar with the single intended interpretation.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21E38"/>
                </a:solidFill>
                <a:latin typeface="Aptos"/>
              </a:defRPr>
            </a:pPr>
            <a:r>
              <a:t>Two Possible Interpretations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8758A"/>
                </a:solidFill>
                <a:latin typeface="Aptos"/>
              </a:defRPr>
            </a:pPr>
            <a:r>
              <a:t>For the classic dangling-else 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1051560" cy="54864"/>
          </a:xfrm>
          <a:prstGeom prst="rect">
            <a:avLst/>
          </a:prstGeom>
          <a:solidFill>
            <a:srgbClr val="23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8758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960120"/>
          </a:xfrm>
          <a:prstGeom prst="round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137160" bIns="109728" rtlCol="0" anchor="ctr"/>
          <a:lstStyle/>
          <a:p>
            <a:pPr algn="ctr">
              <a:spcAft>
                <a:spcPts val="200"/>
              </a:spcAft>
              <a:defRPr sz="1900">
                <a:solidFill>
                  <a:srgbClr val="D7E8FA"/>
                </a:solidFill>
                <a:latin typeface="Consolas"/>
              </a:defRPr>
            </a:pPr>
            <a:r>
              <a:t>if (a)  if (b)  x;  else  y;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63240"/>
            <a:ext cx="50749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23B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27355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3B4A6"/>
                </a:solidFill>
                <a:latin typeface="Aptos"/>
              </a:defRPr>
            </a:pPr>
            <a:r>
              <a:t>Parse A: else → inner 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8758A"/>
                </a:solidFill>
                <a:latin typeface="Aptos"/>
              </a:defRPr>
            </a:pPr>
            <a:r>
              <a:t>Nearest unmatched if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041648"/>
            <a:ext cx="4663440" cy="1143000"/>
          </a:xfrm>
          <a:prstGeom prst="round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137160" bIns="109728" rtlCol="0" anchor="ctr"/>
          <a:lstStyle/>
          <a:p>
            <a:pPr algn="ctr">
              <a:spcAft>
                <a:spcPts val="200"/>
              </a:spcAft>
              <a:defRPr sz="1300">
                <a:solidFill>
                  <a:srgbClr val="D7E8FA"/>
                </a:solidFill>
                <a:latin typeface="Consolas"/>
              </a:defRPr>
            </a:pPr>
            <a:r>
              <a:t>IF (a)</a:t>
            </a:r>
          </a:p>
          <a:p>
            <a:pPr>
              <a:spcAft>
                <a:spcPts val="200"/>
              </a:spcAft>
              <a:defRPr sz="1300">
                <a:solidFill>
                  <a:srgbClr val="D7E8FA"/>
                </a:solidFill>
                <a:latin typeface="Consolas"/>
              </a:defRPr>
            </a:pPr>
            <a:r>
              <a:t>└─ THEN: IF (b)</a:t>
            </a:r>
          </a:p>
          <a:p>
            <a:pPr>
              <a:spcAft>
                <a:spcPts val="200"/>
              </a:spcAft>
              <a:defRPr sz="1300">
                <a:solidFill>
                  <a:srgbClr val="D7E8FA"/>
                </a:solidFill>
                <a:latin typeface="Consolas"/>
              </a:defRPr>
            </a:pPr>
            <a:r>
              <a:t>   ├─ THEN: x;</a:t>
            </a:r>
          </a:p>
          <a:p>
            <a:pPr>
              <a:spcAft>
                <a:spcPts val="200"/>
              </a:spcAft>
              <a:defRPr sz="1300">
                <a:solidFill>
                  <a:srgbClr val="D7E8FA"/>
                </a:solidFill>
                <a:latin typeface="Consolas"/>
              </a:defRPr>
            </a:pPr>
            <a:r>
              <a:t>   └─ ELSE: y;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0749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5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327355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5A442"/>
                </a:solidFill>
                <a:latin typeface="Aptos"/>
              </a:defRPr>
            </a:pPr>
            <a:r>
              <a:t>Parse B: else → outer 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6576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8758A"/>
                </a:solidFill>
                <a:latin typeface="Aptos"/>
              </a:defRPr>
            </a:pPr>
            <a:r>
              <a:t>Alternative original parse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4041648"/>
            <a:ext cx="4663440" cy="1143000"/>
          </a:xfrm>
          <a:prstGeom prst="round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137160" bIns="109728" rtlCol="0" anchor="ctr"/>
          <a:lstStyle/>
          <a:p>
            <a:pPr algn="ctr">
              <a:spcAft>
                <a:spcPts val="200"/>
              </a:spcAft>
              <a:defRPr sz="1300">
                <a:solidFill>
                  <a:srgbClr val="D7E8FA"/>
                </a:solidFill>
                <a:latin typeface="Consolas"/>
              </a:defRPr>
            </a:pPr>
            <a:r>
              <a:t>IF (a)</a:t>
            </a:r>
          </a:p>
          <a:p>
            <a:pPr>
              <a:spcAft>
                <a:spcPts val="200"/>
              </a:spcAft>
              <a:defRPr sz="1300">
                <a:solidFill>
                  <a:srgbClr val="D7E8FA"/>
                </a:solidFill>
                <a:latin typeface="Consolas"/>
              </a:defRPr>
            </a:pPr>
            <a:r>
              <a:t>├─ THEN: IF (b)</a:t>
            </a:r>
          </a:p>
          <a:p>
            <a:pPr>
              <a:spcAft>
                <a:spcPts val="200"/>
              </a:spcAft>
              <a:defRPr sz="1300">
                <a:solidFill>
                  <a:srgbClr val="D7E8FA"/>
                </a:solidFill>
                <a:latin typeface="Consolas"/>
              </a:defRPr>
            </a:pPr>
            <a:r>
              <a:t>│  └─ THEN: x;</a:t>
            </a:r>
          </a:p>
          <a:p>
            <a:pPr>
              <a:spcAft>
                <a:spcPts val="200"/>
              </a:spcAft>
              <a:defRPr sz="1300">
                <a:solidFill>
                  <a:srgbClr val="D7E8FA"/>
                </a:solidFill>
                <a:latin typeface="Consolas"/>
              </a:defRPr>
            </a:pPr>
            <a:r>
              <a:t>└─ ELSE: y;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1500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121E38"/>
                </a:solidFill>
                <a:latin typeface="Aptos"/>
              </a:defRPr>
            </a:pPr>
            <a:r>
              <a:t>The transformed grammar retains the intended nearest-unmatched-if interpretation.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21E38"/>
                </a:solidFill>
                <a:latin typeface="Aptos"/>
              </a:defRPr>
            </a:pPr>
            <a:r>
              <a:t>Resolution: Nearest Unmatched 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8758A"/>
                </a:solidFill>
                <a:latin typeface="Aptos"/>
              </a:defRPr>
            </a:pPr>
            <a:r>
              <a:t>How the transformed grammar disambiguates the 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1051560" cy="54864"/>
          </a:xfrm>
          <a:prstGeom prst="rect">
            <a:avLst/>
          </a:prstGeom>
          <a:solidFill>
            <a:srgbClr val="23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8758A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42E42"/>
                </a:solidFill>
                <a:latin typeface="Aptos"/>
              </a:defRPr>
            </a:pPr>
            <a:r>
              <a:t>An if is unmatched when it has no associated else.</a:t>
            </a:r>
          </a:p>
          <a:p>
            <a:pPr>
              <a:spcAft>
                <a:spcPts val="1200"/>
              </a:spcAft>
              <a:defRPr sz="1700">
                <a:solidFill>
                  <a:srgbClr val="242E42"/>
                </a:solidFill>
                <a:latin typeface="Aptos"/>
              </a:defRPr>
            </a:pPr>
            <a:r>
              <a:t>When an else can attach to the most recent unmatched if, it is attached there.</a:t>
            </a:r>
          </a:p>
          <a:p>
            <a:pPr>
              <a:spcAft>
                <a:spcPts val="1200"/>
              </a:spcAft>
              <a:defRPr sz="1700">
                <a:solidFill>
                  <a:srgbClr val="242E42"/>
                </a:solidFill>
                <a:latin typeface="Aptos"/>
              </a:defRPr>
            </a:pPr>
            <a:r>
              <a:t>Matched and unmatched productions restrict valid structures.</a:t>
            </a:r>
          </a:p>
          <a:p>
            <a:pPr>
              <a:spcAft>
                <a:spcPts val="1200"/>
              </a:spcAft>
              <a:defRPr sz="1700">
                <a:solidFill>
                  <a:srgbClr val="242E42"/>
                </a:solidFill>
                <a:latin typeface="Aptos"/>
              </a:defRPr>
            </a:pPr>
            <a:r>
              <a:t>For the example, else is attached to if (b).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3068BE"/>
                </a:solidFill>
                <a:latin typeface="Aptos"/>
              </a:defRPr>
            </a:pPr>
            <a:r>
              <a:t>Resolved parse tree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423160"/>
            <a:ext cx="1645920" cy="502920"/>
          </a:xfrm>
          <a:prstGeom prst="round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36992" y="2551176"/>
            <a:ext cx="14996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IF (a)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337560"/>
            <a:ext cx="1645920" cy="502920"/>
          </a:xfrm>
          <a:prstGeom prst="round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36992" y="3465576"/>
            <a:ext cx="14996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THEN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4160520"/>
            <a:ext cx="1645920" cy="502920"/>
          </a:xfrm>
          <a:prstGeom prst="roundRect">
            <a:avLst/>
          </a:prstGeom>
          <a:solidFill>
            <a:srgbClr val="23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36992" y="4288536"/>
            <a:ext cx="14996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IF (b)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5074920"/>
            <a:ext cx="1554480" cy="502920"/>
          </a:xfrm>
          <a:prstGeom prst="round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56832" y="5202936"/>
            <a:ext cx="14081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THEN: x;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5074920"/>
            <a:ext cx="1554480" cy="502920"/>
          </a:xfrm>
          <a:prstGeom prst="roundRect">
            <a:avLst/>
          </a:prstGeom>
          <a:solidFill>
            <a:srgbClr val="2D9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08592" y="5202936"/>
            <a:ext cx="14081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ELSE: y;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0" y="2926080"/>
            <a:ext cx="0" cy="411480"/>
          </a:xfrm>
          <a:prstGeom prst="line">
            <a:avLst/>
          </a:prstGeom>
          <a:ln w="19050">
            <a:solidFill>
              <a:srgbClr val="68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86800" y="3840480"/>
            <a:ext cx="0" cy="320040"/>
          </a:xfrm>
          <a:prstGeom prst="line">
            <a:avLst/>
          </a:prstGeom>
          <a:ln w="19050">
            <a:solidFill>
              <a:srgbClr val="68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360920" y="4663440"/>
            <a:ext cx="1325880" cy="411480"/>
          </a:xfrm>
          <a:prstGeom prst="line">
            <a:avLst/>
          </a:prstGeom>
          <a:ln w="19050">
            <a:solidFill>
              <a:srgbClr val="68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86800" y="4663440"/>
            <a:ext cx="1325880" cy="411480"/>
          </a:xfrm>
          <a:prstGeom prst="line">
            <a:avLst/>
          </a:prstGeom>
          <a:ln w="19050">
            <a:solidFill>
              <a:srgbClr val="68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562356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9B64"/>
                </a:solidFill>
                <a:latin typeface="Aptos"/>
              </a:defRPr>
            </a:pPr>
            <a:r>
              <a:t>The else is part of the inner if (b), not the outer if (a).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21E38"/>
                </a:solidFill>
                <a:latin typeface="Aptos"/>
              </a:defRPr>
            </a:pPr>
            <a:r>
              <a:t>Test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8758A"/>
                </a:solidFill>
                <a:latin typeface="Aptos"/>
              </a:defRPr>
            </a:pPr>
            <a:r>
              <a:t>Representative inputs for demonstrating the resolver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1051560" cy="54864"/>
          </a:xfrm>
          <a:prstGeom prst="rect">
            <a:avLst/>
          </a:prstGeom>
          <a:solidFill>
            <a:srgbClr val="23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8758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1E38"/>
                </a:solidFill>
                <a:latin typeface="Aptos"/>
              </a:defRPr>
            </a:pPr>
            <a:r>
              <a:t>1. Classic ambiguity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91640"/>
            <a:ext cx="5303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3068BE"/>
                </a:solidFill>
                <a:latin typeface="Consolas"/>
              </a:defRPr>
            </a:pPr>
            <a:r>
              <a:t>if (a) if (b) x; else y;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91640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2E42"/>
                </a:solidFill>
                <a:latin typeface="Aptos"/>
              </a:defRPr>
            </a:pPr>
            <a:r>
              <a:t>Original: 2 parses; transformed: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8775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1E38"/>
                </a:solidFill>
                <a:latin typeface="Aptos"/>
              </a:defRPr>
            </a:pPr>
            <a:r>
              <a:t>2. No else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587752"/>
            <a:ext cx="5303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3068BE"/>
                </a:solidFill>
                <a:latin typeface="Consolas"/>
              </a:defRPr>
            </a:pPr>
            <a:r>
              <a:t>if (a) if (b) x;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587752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2E42"/>
                </a:solidFill>
                <a:latin typeface="Aptos"/>
              </a:defRPr>
            </a:pPr>
            <a:r>
              <a:t>One parse; no dangling else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8386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1E38"/>
                </a:solidFill>
                <a:latin typeface="Aptos"/>
              </a:defRPr>
            </a:pPr>
            <a:r>
              <a:t>3. Two else clauses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483864"/>
            <a:ext cx="5303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3068BE"/>
                </a:solidFill>
                <a:latin typeface="Consolas"/>
              </a:defRPr>
            </a:pPr>
            <a:r>
              <a:t>if (a) if (b) x; else y; else z;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483864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2E42"/>
                </a:solidFill>
                <a:latin typeface="Aptos"/>
              </a:defRPr>
            </a:pPr>
            <a:r>
              <a:t>One fully matched 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7997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1E38"/>
                </a:solidFill>
                <a:latin typeface="Aptos"/>
              </a:defRPr>
            </a:pPr>
            <a:r>
              <a:t>4. Simple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379976"/>
            <a:ext cx="5303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3068BE"/>
                </a:solidFill>
                <a:latin typeface="Consolas"/>
              </a:defRPr>
            </a:pPr>
            <a:r>
              <a:t>x;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379976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2E42"/>
                </a:solidFill>
                <a:latin typeface="Aptos"/>
              </a:defRPr>
            </a:pPr>
            <a:r>
              <a:t>One parse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7608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1E38"/>
                </a:solidFill>
                <a:latin typeface="Aptos"/>
              </a:defRPr>
            </a:pPr>
            <a:r>
              <a:t>5. Three levels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276088"/>
            <a:ext cx="5303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3068BE"/>
                </a:solidFill>
                <a:latin typeface="Consolas"/>
              </a:defRPr>
            </a:pPr>
            <a:r>
              <a:t>if (a) if (b) if (c) x; else y;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276088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42E42"/>
                </a:solidFill>
                <a:latin typeface="Aptos"/>
              </a:defRPr>
            </a:pPr>
            <a:r>
              <a:t>Multiple original parses; one transformed parse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21E38"/>
                </a:solidFill>
                <a:latin typeface="Aptos"/>
              </a:defRPr>
            </a:pPr>
            <a:r>
              <a:t>Technology and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8758A"/>
                </a:solidFill>
                <a:latin typeface="Aptos"/>
              </a:defRPr>
            </a:pPr>
            <a:r>
              <a:t>A lightweight local application built for a hackathon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1051560" cy="54864"/>
          </a:xfrm>
          <a:prstGeom prst="rect">
            <a:avLst/>
          </a:prstGeom>
          <a:solidFill>
            <a:srgbClr val="23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8758A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068BE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42E42"/>
                </a:solidFill>
                <a:latin typeface="Aptos"/>
              </a:defRPr>
            </a:pPr>
            <a:r>
              <a:t>Python — parsing and tree data structures</a:t>
            </a:r>
          </a:p>
          <a:p>
            <a:pPr>
              <a:spcAft>
                <a:spcPts val="1200"/>
              </a:spcAft>
              <a:defRPr sz="1600">
                <a:solidFill>
                  <a:srgbClr val="242E42"/>
                </a:solidFill>
                <a:latin typeface="Aptos"/>
              </a:defRPr>
            </a:pPr>
            <a:r>
              <a:t>Streamlit — interactive browser-based UI</a:t>
            </a:r>
          </a:p>
          <a:p>
            <a:pPr>
              <a:spcAft>
                <a:spcPts val="1200"/>
              </a:spcAft>
              <a:defRPr sz="1600">
                <a:solidFill>
                  <a:srgbClr val="242E42"/>
                </a:solidFill>
                <a:latin typeface="Aptos"/>
              </a:defRPr>
            </a:pPr>
            <a:r>
              <a:t>unittest — automated checks</a:t>
            </a:r>
          </a:p>
          <a:p>
            <a:pPr>
              <a:spcAft>
                <a:spcPts val="1200"/>
              </a:spcAft>
              <a:defRPr sz="1600">
                <a:solidFill>
                  <a:srgbClr val="242E42"/>
                </a:solidFill>
                <a:latin typeface="Aptos"/>
              </a:defRPr>
            </a:pPr>
            <a:r>
              <a:t>Graphviz package may support future graphical tree rendering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3B4A6"/>
                </a:solidFill>
                <a:latin typeface="Aptos"/>
              </a:defRPr>
            </a:pPr>
            <a:r>
              <a:t>Project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240280"/>
            <a:ext cx="5074920" cy="2560320"/>
          </a:xfrm>
          <a:prstGeom prst="round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137160" bIns="109728" rtlCol="0" anchor="ctr"/>
          <a:lstStyle/>
          <a:p>
            <a:pPr algn="ctr">
              <a:spcAft>
                <a:spcPts val="200"/>
              </a:spcAft>
              <a:defRPr sz="1700">
                <a:solidFill>
                  <a:srgbClr val="D7E8FA"/>
                </a:solidFill>
                <a:latin typeface="Consolas"/>
              </a:defRPr>
            </a:pPr>
            <a:r>
              <a:t>GrammarFix/</a:t>
            </a:r>
          </a:p>
          <a:p>
            <a:pPr>
              <a:spcAft>
                <a:spcPts val="200"/>
              </a:spcAft>
              <a:defRPr sz="1700">
                <a:solidFill>
                  <a:srgbClr val="D7E8FA"/>
                </a:solidFill>
                <a:latin typeface="Consolas"/>
              </a:defRPr>
            </a:pPr>
            <a:r>
              <a:t>├── app.py</a:t>
            </a:r>
          </a:p>
          <a:p>
            <a:pPr>
              <a:spcAft>
                <a:spcPts val="200"/>
              </a:spcAft>
              <a:defRPr sz="1700">
                <a:solidFill>
                  <a:srgbClr val="D7E8FA"/>
                </a:solidFill>
                <a:latin typeface="Consolas"/>
              </a:defRPr>
            </a:pPr>
            <a:r>
              <a:t>├── core_logic.py</a:t>
            </a:r>
          </a:p>
          <a:p>
            <a:pPr>
              <a:spcAft>
                <a:spcPts val="200"/>
              </a:spcAft>
              <a:defRPr sz="1700">
                <a:solidFill>
                  <a:srgbClr val="D7E8FA"/>
                </a:solidFill>
                <a:latin typeface="Consolas"/>
              </a:defRPr>
            </a:pPr>
            <a:r>
              <a:t>├── test_core_logic.py</a:t>
            </a:r>
          </a:p>
          <a:p>
            <a:pPr>
              <a:spcAft>
                <a:spcPts val="200"/>
              </a:spcAft>
              <a:defRPr sz="1700">
                <a:solidFill>
                  <a:srgbClr val="D7E8FA"/>
                </a:solidFill>
                <a:latin typeface="Consolas"/>
              </a:defRPr>
            </a:pPr>
            <a:r>
              <a:t>├── requirements.txt</a:t>
            </a:r>
          </a:p>
          <a:p>
            <a:pPr>
              <a:spcAft>
                <a:spcPts val="200"/>
              </a:spcAft>
              <a:defRPr sz="1700">
                <a:solidFill>
                  <a:srgbClr val="D7E8FA"/>
                </a:solidFill>
                <a:latin typeface="Consolas"/>
              </a:defRPr>
            </a:pPr>
            <a:r>
              <a:t>└── README.md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5780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121E38"/>
                </a:solidFill>
                <a:latin typeface="Aptos"/>
              </a:defRPr>
            </a:pPr>
            <a:r>
              <a:t>Design principle: keep parsing logic separate from the user interface so it can be tested independently.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21E38"/>
                </a:solidFill>
                <a:latin typeface="Aptos"/>
              </a:defRPr>
            </a:pPr>
            <a:r>
              <a:t>Run the Project in VS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8758A"/>
                </a:solidFill>
                <a:latin typeface="Aptos"/>
              </a:defRPr>
            </a:pPr>
            <a:r>
              <a:t>Windows PowerShell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1051560" cy="54864"/>
          </a:xfrm>
          <a:prstGeom prst="rect">
            <a:avLst/>
          </a:prstGeom>
          <a:solidFill>
            <a:srgbClr val="23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8758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2971800"/>
          </a:xfrm>
          <a:prstGeom prst="round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137160" bIns="109728" rtlCol="0" anchor="ctr"/>
          <a:lstStyle/>
          <a:p>
            <a:pPr algn="ctr">
              <a:spcAft>
                <a:spcPts val="200"/>
              </a:spcAft>
              <a:defRPr sz="1800">
                <a:solidFill>
                  <a:srgbClr val="D7E8FA"/>
                </a:solidFill>
                <a:latin typeface="Consolas"/>
              </a:defRPr>
            </a:pPr>
            <a:r>
              <a:t>python -m venv .venv</a:t>
            </a:r>
          </a:p>
          <a:p>
            <a:pPr>
              <a:spcAft>
                <a:spcPts val="200"/>
              </a:spcAft>
              <a:defRPr sz="1800">
                <a:solidFill>
                  <a:srgbClr val="D7E8FA"/>
                </a:solidFill>
                <a:latin typeface="Consolas"/>
              </a:defRPr>
            </a:pPr>
            <a:r>
              <a:t>.\.venv\Scripts\Activate.ps1</a:t>
            </a:r>
          </a:p>
          <a:p>
            <a:pPr>
              <a:spcAft>
                <a:spcPts val="200"/>
              </a:spcAft>
              <a:defRPr sz="1800">
                <a:solidFill>
                  <a:srgbClr val="D7E8FA"/>
                </a:solidFill>
                <a:latin typeface="Consolas"/>
              </a:defRPr>
            </a:pPr>
            <a:r>
              <a:t>python -m pip install -r requirements.txt</a:t>
            </a:r>
          </a:p>
          <a:p>
            <a:pPr>
              <a:spcAft>
                <a:spcPts val="200"/>
              </a:spcAft>
              <a:defRPr sz="1800">
                <a:solidFill>
                  <a:srgbClr val="D7E8FA"/>
                </a:solidFill>
                <a:latin typeface="Consolas"/>
              </a:defRPr>
            </a:pPr>
            <a:r>
              <a:t>python -m unittest discover -s . -p "test_*.py" -v</a:t>
            </a:r>
          </a:p>
          <a:p>
            <a:pPr>
              <a:spcAft>
                <a:spcPts val="200"/>
              </a:spcAft>
              <a:defRPr sz="1800">
                <a:solidFill>
                  <a:srgbClr val="D7E8FA"/>
                </a:solidFill>
                <a:latin typeface="Consolas"/>
              </a:defRPr>
            </a:pPr>
            <a:r>
              <a:t>python -m streamlit run 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42E42"/>
                </a:solidFill>
                <a:latin typeface="Aptos"/>
              </a:defRPr>
            </a:pPr>
            <a:r>
              <a:t>Open the localhost address shown in the terminal.</a:t>
            </a:r>
          </a:p>
          <a:p>
            <a:pPr>
              <a:spcAft>
                <a:spcPts val="1200"/>
              </a:spcAft>
              <a:defRPr sz="1600">
                <a:solidFill>
                  <a:srgbClr val="242E42"/>
                </a:solidFill>
                <a:latin typeface="Aptos"/>
              </a:defRPr>
            </a:pPr>
            <a:r>
              <a:t>Load the classic example and click Resolve Ambiguity.</a:t>
            </a:r>
          </a:p>
          <a:p>
            <a:pPr>
              <a:spcAft>
                <a:spcPts val="1200"/>
              </a:spcAft>
              <a:defRPr sz="1600">
                <a:solidFill>
                  <a:srgbClr val="242E42"/>
                </a:solidFill>
                <a:latin typeface="Aptos"/>
              </a:defRPr>
            </a:pPr>
            <a:r>
              <a:t>Show the original parse count, transformed parse, and explanation.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21E38"/>
                </a:solidFill>
                <a:latin typeface="Aptos"/>
              </a:defRPr>
            </a:pPr>
            <a:r>
              <a:t>Limitations and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8758A"/>
                </a:solidFill>
                <a:latin typeface="Aptos"/>
              </a:defRPr>
            </a:pPr>
            <a:r>
              <a:t>Be clear about the current prototype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25880"/>
            <a:ext cx="1051560" cy="54864"/>
          </a:xfrm>
          <a:prstGeom prst="rect">
            <a:avLst/>
          </a:prstGeom>
          <a:solidFill>
            <a:srgbClr val="23B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8758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068BE"/>
                </a:solidFill>
                <a:latin typeface="Aptos"/>
              </a:defRPr>
            </a:pPr>
            <a:r>
              <a:t>Current prototype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42E42"/>
                </a:solidFill>
                <a:latin typeface="Aptos"/>
              </a:defRPr>
            </a:pPr>
            <a:r>
              <a:t>Supports a restricted educational syntax.</a:t>
            </a:r>
          </a:p>
          <a:p>
            <a:pPr>
              <a:spcAft>
                <a:spcPts val="1200"/>
              </a:spcAft>
              <a:defRPr sz="1600">
                <a:solidFill>
                  <a:srgbClr val="242E42"/>
                </a:solidFill>
                <a:latin typeface="Aptos"/>
              </a:defRPr>
            </a:pPr>
            <a:r>
              <a:t>Not a full C, Java, or Python parser.</a:t>
            </a:r>
          </a:p>
          <a:p>
            <a:pPr>
              <a:spcAft>
                <a:spcPts val="1200"/>
              </a:spcAft>
              <a:defRPr sz="1600">
                <a:solidFill>
                  <a:srgbClr val="242E42"/>
                </a:solidFill>
                <a:latin typeface="Aptos"/>
              </a:defRPr>
            </a:pPr>
            <a:r>
              <a:t>Tree output may be textual or nested JSON unless graphical rendering is added.</a:t>
            </a:r>
          </a:p>
          <a:p>
            <a:pPr>
              <a:spcAft>
                <a:spcPts val="1200"/>
              </a:spcAft>
              <a:defRPr sz="1600">
                <a:solidFill>
                  <a:srgbClr val="242E42"/>
                </a:solidFill>
                <a:latin typeface="Aptos"/>
              </a:defRPr>
            </a:pPr>
            <a:r>
              <a:t>Automated tests should be run before a live demo.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830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3B4A6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24028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42E42"/>
                </a:solidFill>
                <a:latin typeface="Aptos"/>
              </a:defRPr>
            </a:pPr>
            <a:r>
              <a:t>Interactive graphical parse trees.</a:t>
            </a:r>
          </a:p>
          <a:p>
            <a:pPr>
              <a:spcAft>
                <a:spcPts val="1200"/>
              </a:spcAft>
              <a:defRPr sz="1600">
                <a:solidFill>
                  <a:srgbClr val="242E42"/>
                </a:solidFill>
                <a:latin typeface="Aptos"/>
              </a:defRPr>
            </a:pPr>
            <a:r>
              <a:t>Adjustable nesting depth and generated test cases.</a:t>
            </a:r>
          </a:p>
          <a:p>
            <a:pPr>
              <a:spcAft>
                <a:spcPts val="1200"/>
              </a:spcAft>
              <a:defRPr sz="1600">
                <a:solidFill>
                  <a:srgbClr val="242E42"/>
                </a:solidFill>
                <a:latin typeface="Aptos"/>
              </a:defRPr>
            </a:pPr>
            <a:r>
              <a:t>Highlight the exact if that owns each else.</a:t>
            </a:r>
          </a:p>
          <a:p>
            <a:pPr>
              <a:spcAft>
                <a:spcPts val="1200"/>
              </a:spcAft>
              <a:defRPr sz="1600">
                <a:solidFill>
                  <a:srgbClr val="242E42"/>
                </a:solidFill>
                <a:latin typeface="Aptos"/>
              </a:defRPr>
            </a:pPr>
            <a:r>
              <a:t>Export parse trees and test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257800"/>
            <a:ext cx="10241280" cy="640080"/>
          </a:xfrm>
          <a:prstGeom prst="round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5431536"/>
            <a:ext cx="9784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A strong demo combines correct parsing, clear visualization, and an understandable explanation.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E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9EBB48-0B2E-97FA-FDA6-B71059BD8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E1077B-3FA2-ECAE-2C33-5302ACF3150A}"/>
              </a:ext>
            </a:extLst>
          </p:cNvPr>
          <p:cNvSpPr txBox="1"/>
          <p:nvPr/>
        </p:nvSpPr>
        <p:spPr>
          <a:xfrm>
            <a:off x="740664" y="237744"/>
            <a:ext cx="10515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Result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8E275A-193D-DED1-B115-389825CDE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64" y="1192317"/>
            <a:ext cx="11835696" cy="410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753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E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43B16-A4D9-862D-D752-C726338A0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DB2464-3B92-15AF-D4D0-7C645C0482C5}"/>
              </a:ext>
            </a:extLst>
          </p:cNvPr>
          <p:cNvSpPr txBox="1"/>
          <p:nvPr/>
        </p:nvSpPr>
        <p:spPr>
          <a:xfrm>
            <a:off x="740664" y="237744"/>
            <a:ext cx="10515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Result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114C30-BBCD-24EA-A0D9-0F0F879CB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21" y="1463574"/>
            <a:ext cx="10846357" cy="393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892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E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07D689-265C-6433-E15D-D135BD912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F2B20E-4C70-1F67-B77C-CE5BF3784EC3}"/>
              </a:ext>
            </a:extLst>
          </p:cNvPr>
          <p:cNvSpPr txBox="1"/>
          <p:nvPr/>
        </p:nvSpPr>
        <p:spPr>
          <a:xfrm>
            <a:off x="740664" y="237744"/>
            <a:ext cx="10515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Result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9180AA-9672-7CEE-3BB5-66B15CFC9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705" y="364339"/>
            <a:ext cx="8693597" cy="585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478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E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2A9A8D-3AC3-7DC5-2AA8-66F9EACC5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1D3C8F-8F54-FC03-F601-132C673264C3}"/>
              </a:ext>
            </a:extLst>
          </p:cNvPr>
          <p:cNvSpPr txBox="1"/>
          <p:nvPr/>
        </p:nvSpPr>
        <p:spPr>
          <a:xfrm>
            <a:off x="740664" y="237744"/>
            <a:ext cx="10515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Result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0D2FAD-701C-DA81-4F50-DE9C258E8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174" y="847592"/>
            <a:ext cx="6845652" cy="516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842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E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71EB8A-87AA-3DE3-4FBD-5A48FB9EC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82F9AF-D4CA-0914-C51C-456029031A4C}"/>
              </a:ext>
            </a:extLst>
          </p:cNvPr>
          <p:cNvSpPr txBox="1"/>
          <p:nvPr/>
        </p:nvSpPr>
        <p:spPr>
          <a:xfrm>
            <a:off x="740664" y="237744"/>
            <a:ext cx="10515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Result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ED9A40-DB67-7FFE-81E9-10B38D971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27" y="2019227"/>
            <a:ext cx="10617746" cy="281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468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54480"/>
            <a:ext cx="10149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300" b="0">
                <a:solidFill>
                  <a:srgbClr val="CCDEF7"/>
                </a:solidFill>
                <a:latin typeface="Aptos"/>
              </a:defRPr>
            </a:pPr>
            <a:r>
              <a:t>GrammarFix demonstrates how grammar ambiguity can be identified and resolved using matched and unmatched statement rules.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The original grammar may admit more than one parse tree.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The transformed grammar encodes the nearest-unmatched-if rule.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The application makes the parsing behavior visible and testable.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979</Words>
  <Application>Microsoft Office PowerPoint</Application>
  <PresentationFormat>Widescreen</PresentationFormat>
  <Paragraphs>172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 Hansika Saraf</dc:creator>
  <cp:keywords/>
  <dc:description>generated using python-pptx</dc:description>
  <cp:lastModifiedBy>Sri Hansika Saraf</cp:lastModifiedBy>
  <cp:revision>2</cp:revision>
  <dcterms:created xsi:type="dcterms:W3CDTF">2013-01-27T09:14:16Z</dcterms:created>
  <dcterms:modified xsi:type="dcterms:W3CDTF">2026-10-30T05:24:58Z</dcterms:modified>
  <cp:category/>
</cp:coreProperties>
</file>